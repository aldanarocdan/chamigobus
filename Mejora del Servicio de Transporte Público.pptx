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6" d="100"/>
          <a:sy n="66" d="100"/>
        </p:scale>
        <p:origin x="90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8A52F226-87EC-40BD-80D4-5AEEA589C3B8}" type="datetimeFigureOut">
              <a:rPr lang="es-AR" smtClean="0"/>
              <a:t>24/11/2024</a:t>
            </a:fld>
            <a:endParaRPr lang="es-AR"/>
          </a:p>
        </p:txBody>
      </p:sp>
      <p:sp>
        <p:nvSpPr>
          <p:cNvPr id="5" name="Footer Placeholder 4"/>
          <p:cNvSpPr>
            <a:spLocks noGrp="1"/>
          </p:cNvSpPr>
          <p:nvPr>
            <p:ph type="ftr" sz="quarter" idx="11"/>
          </p:nvPr>
        </p:nvSpPr>
        <p:spPr>
          <a:xfrm>
            <a:off x="1371600" y="4323845"/>
            <a:ext cx="6400800" cy="365125"/>
          </a:xfrm>
        </p:spPr>
        <p:txBody>
          <a:bodyPr/>
          <a:lstStyle/>
          <a:p>
            <a:endParaRPr lang="es-AR"/>
          </a:p>
        </p:txBody>
      </p:sp>
      <p:sp>
        <p:nvSpPr>
          <p:cNvPr id="6" name="Slide Number Placeholder 5"/>
          <p:cNvSpPr>
            <a:spLocks noGrp="1"/>
          </p:cNvSpPr>
          <p:nvPr>
            <p:ph type="sldNum" sz="quarter" idx="12"/>
          </p:nvPr>
        </p:nvSpPr>
        <p:spPr>
          <a:xfrm>
            <a:off x="8077200" y="1430866"/>
            <a:ext cx="2743200" cy="365125"/>
          </a:xfrm>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3261329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A52F226-87EC-40BD-80D4-5AEEA589C3B8}" type="datetimeFigureOut">
              <a:rPr lang="es-AR" smtClean="0"/>
              <a:t>24/11/2024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1135239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8A52F226-87EC-40BD-80D4-5AEEA589C3B8}" type="datetimeFigureOut">
              <a:rPr lang="es-AR" smtClean="0"/>
              <a:t>24/11/2024</a:t>
            </a:fld>
            <a:endParaRPr lang="es-AR"/>
          </a:p>
        </p:txBody>
      </p:sp>
      <p:sp>
        <p:nvSpPr>
          <p:cNvPr id="5" name="Footer Placeholder 4"/>
          <p:cNvSpPr>
            <a:spLocks noGrp="1"/>
          </p:cNvSpPr>
          <p:nvPr>
            <p:ph type="ftr" sz="quarter" idx="11"/>
          </p:nvPr>
        </p:nvSpPr>
        <p:spPr>
          <a:xfrm>
            <a:off x="685800" y="381001"/>
            <a:ext cx="6991492" cy="364065"/>
          </a:xfrm>
        </p:spPr>
        <p:txBody>
          <a:bodyPr/>
          <a:lstStyle/>
          <a:p>
            <a:endParaRPr lang="es-AR"/>
          </a:p>
        </p:txBody>
      </p:sp>
      <p:sp>
        <p:nvSpPr>
          <p:cNvPr id="6" name="Slide Number Placeholder 5"/>
          <p:cNvSpPr>
            <a:spLocks noGrp="1"/>
          </p:cNvSpPr>
          <p:nvPr>
            <p:ph type="sldNum" sz="quarter" idx="12"/>
          </p:nvPr>
        </p:nvSpPr>
        <p:spPr>
          <a:xfrm>
            <a:off x="10862452" y="381000"/>
            <a:ext cx="643748" cy="365125"/>
          </a:xfrm>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383923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8A52F226-87EC-40BD-80D4-5AEEA589C3B8}" type="datetimeFigureOut">
              <a:rPr lang="es-AR" smtClean="0"/>
              <a:t>24/11/2024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1733528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8A52F226-87EC-40BD-80D4-5AEEA589C3B8}" type="datetimeFigureOut">
              <a:rPr lang="es-AR" smtClean="0"/>
              <a:t>24/11/2024</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1063074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8A52F226-87EC-40BD-80D4-5AEEA589C3B8}" type="datetimeFigureOut">
              <a:rPr lang="es-AR" smtClean="0"/>
              <a:t>24/11/2024</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4001147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52F226-87EC-40BD-80D4-5AEEA589C3B8}" type="datetimeFigureOut">
              <a:rPr lang="es-AR" smtClean="0"/>
              <a:t>24/11/2024</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3269241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8A52F226-87EC-40BD-80D4-5AEEA589C3B8}" type="datetimeFigureOut">
              <a:rPr lang="es-AR" smtClean="0"/>
              <a:t>24/11/2024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1541842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8A52F226-87EC-40BD-80D4-5AEEA589C3B8}" type="datetimeFigureOut">
              <a:rPr lang="es-AR" smtClean="0"/>
              <a:t>24/11/2024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2174800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8A52F226-87EC-40BD-80D4-5AEEA589C3B8}" type="datetimeFigureOut">
              <a:rPr lang="es-AR" smtClean="0"/>
              <a:t>24/11/2024</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3467549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MX"/>
              <a:t>Haz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A52F226-87EC-40BD-80D4-5AEEA589C3B8}" type="datetimeFigureOut">
              <a:rPr lang="es-AR" smtClean="0"/>
              <a:t>24/11/2024</a:t>
            </a:fld>
            <a:endParaRPr lang="es-AR"/>
          </a:p>
        </p:txBody>
      </p:sp>
      <p:sp>
        <p:nvSpPr>
          <p:cNvPr id="6" name="Footer Placeholder 5"/>
          <p:cNvSpPr>
            <a:spLocks noGrp="1"/>
          </p:cNvSpPr>
          <p:nvPr>
            <p:ph type="ftr" sz="quarter" idx="11"/>
          </p:nvPr>
        </p:nvSpPr>
        <p:spPr>
          <a:xfrm>
            <a:off x="685800" y="379941"/>
            <a:ext cx="6991492" cy="365125"/>
          </a:xfrm>
        </p:spPr>
        <p:txBody>
          <a:bodyPr/>
          <a:lstStyle/>
          <a:p>
            <a:endParaRPr lang="es-AR"/>
          </a:p>
        </p:txBody>
      </p:sp>
      <p:sp>
        <p:nvSpPr>
          <p:cNvPr id="7" name="Slide Number Placeholder 6"/>
          <p:cNvSpPr>
            <a:spLocks noGrp="1"/>
          </p:cNvSpPr>
          <p:nvPr>
            <p:ph type="sldNum" sz="quarter" idx="12"/>
          </p:nvPr>
        </p:nvSpPr>
        <p:spPr>
          <a:xfrm>
            <a:off x="10862452" y="381000"/>
            <a:ext cx="643748" cy="365125"/>
          </a:xfrm>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1987239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1" name="Picture 10"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MX"/>
              <a:t>Haz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A52F226-87EC-40BD-80D4-5AEEA589C3B8}" type="datetimeFigureOut">
              <a:rPr lang="es-AR" smtClean="0"/>
              <a:t>24/11/2024</a:t>
            </a:fld>
            <a:endParaRPr lang="es-AR"/>
          </a:p>
        </p:txBody>
      </p:sp>
      <p:sp>
        <p:nvSpPr>
          <p:cNvPr id="6" name="Footer Placeholder 5"/>
          <p:cNvSpPr>
            <a:spLocks noGrp="1"/>
          </p:cNvSpPr>
          <p:nvPr>
            <p:ph type="ftr" sz="quarter" idx="11"/>
          </p:nvPr>
        </p:nvSpPr>
        <p:spPr>
          <a:xfrm>
            <a:off x="685800" y="379941"/>
            <a:ext cx="6991492" cy="365125"/>
          </a:xfrm>
        </p:spPr>
        <p:txBody>
          <a:bodyPr/>
          <a:lstStyle/>
          <a:p>
            <a:endParaRPr lang="es-AR"/>
          </a:p>
        </p:txBody>
      </p:sp>
      <p:sp>
        <p:nvSpPr>
          <p:cNvPr id="7" name="Slide Number Placeholder 6"/>
          <p:cNvSpPr>
            <a:spLocks noGrp="1"/>
          </p:cNvSpPr>
          <p:nvPr>
            <p:ph type="sldNum" sz="quarter" idx="12"/>
          </p:nvPr>
        </p:nvSpPr>
        <p:spPr>
          <a:xfrm>
            <a:off x="10862452" y="381000"/>
            <a:ext cx="643748" cy="365125"/>
          </a:xfrm>
        </p:spPr>
        <p:txBody>
          <a:bodyPr/>
          <a:lstStyle/>
          <a:p>
            <a:fld id="{30F9E8F4-67FC-4E08-AE05-B1E7B43AFD72}" type="slidenum">
              <a:rPr lang="es-AR" smtClean="0"/>
              <a:t>‹Nº›</a:t>
            </a:fld>
            <a:endParaRPr lang="es-AR"/>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495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MX"/>
              <a:t>Haz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8A52F226-87EC-40BD-80D4-5AEEA589C3B8}" type="datetimeFigureOut">
              <a:rPr lang="es-AR" smtClean="0"/>
              <a:t>24/11/2024</a:t>
            </a:fld>
            <a:endParaRPr lang="es-AR"/>
          </a:p>
        </p:txBody>
      </p:sp>
      <p:sp>
        <p:nvSpPr>
          <p:cNvPr id="6" name="Footer Placeholder 5"/>
          <p:cNvSpPr>
            <a:spLocks noGrp="1"/>
          </p:cNvSpPr>
          <p:nvPr>
            <p:ph type="ftr" sz="quarter" idx="11"/>
          </p:nvPr>
        </p:nvSpPr>
        <p:spPr>
          <a:xfrm>
            <a:off x="685800" y="378883"/>
            <a:ext cx="6991492" cy="365125"/>
          </a:xfrm>
        </p:spPr>
        <p:txBody>
          <a:bodyPr/>
          <a:lstStyle/>
          <a:p>
            <a:endParaRPr lang="es-AR"/>
          </a:p>
        </p:txBody>
      </p:sp>
      <p:sp>
        <p:nvSpPr>
          <p:cNvPr id="7" name="Slide Number Placeholder 6"/>
          <p:cNvSpPr>
            <a:spLocks noGrp="1"/>
          </p:cNvSpPr>
          <p:nvPr>
            <p:ph type="sldNum" sz="quarter" idx="12"/>
          </p:nvPr>
        </p:nvSpPr>
        <p:spPr>
          <a:xfrm>
            <a:off x="10862452" y="381000"/>
            <a:ext cx="643748" cy="365125"/>
          </a:xfrm>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1868161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MX"/>
              <a:t>Haz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3" name="Date Placeholder 2"/>
          <p:cNvSpPr>
            <a:spLocks noGrp="1"/>
          </p:cNvSpPr>
          <p:nvPr>
            <p:ph type="dt" sz="half" idx="10"/>
          </p:nvPr>
        </p:nvSpPr>
        <p:spPr/>
        <p:txBody>
          <a:bodyPr/>
          <a:lstStyle/>
          <a:p>
            <a:fld id="{8A52F226-87EC-40BD-80D4-5AEEA589C3B8}" type="datetimeFigureOut">
              <a:rPr lang="es-AR" smtClean="0"/>
              <a:t>24/11/2024</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356196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MX"/>
              <a:t>Haz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3" name="Date Placeholder 2"/>
          <p:cNvSpPr>
            <a:spLocks noGrp="1"/>
          </p:cNvSpPr>
          <p:nvPr>
            <p:ph type="dt" sz="half" idx="10"/>
          </p:nvPr>
        </p:nvSpPr>
        <p:spPr/>
        <p:txBody>
          <a:bodyPr/>
          <a:lstStyle/>
          <a:p>
            <a:fld id="{8A52F226-87EC-40BD-80D4-5AEEA589C3B8}" type="datetimeFigureOut">
              <a:rPr lang="es-AR" smtClean="0"/>
              <a:t>24/11/2024</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2897454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8A52F226-87EC-40BD-80D4-5AEEA589C3B8}" type="datetimeFigureOut">
              <a:rPr lang="es-AR" smtClean="0"/>
              <a:t>24/11/2024</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940037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8A52F226-87EC-40BD-80D4-5AEEA589C3B8}" type="datetimeFigureOut">
              <a:rPr lang="es-AR" smtClean="0"/>
              <a:t>24/11/2024</a:t>
            </a:fld>
            <a:endParaRPr lang="es-AR"/>
          </a:p>
        </p:txBody>
      </p:sp>
      <p:sp>
        <p:nvSpPr>
          <p:cNvPr id="5" name="Footer Placeholder 4"/>
          <p:cNvSpPr>
            <a:spLocks noGrp="1"/>
          </p:cNvSpPr>
          <p:nvPr>
            <p:ph type="ftr" sz="quarter" idx="11"/>
          </p:nvPr>
        </p:nvSpPr>
        <p:spPr>
          <a:xfrm>
            <a:off x="685800" y="381000"/>
            <a:ext cx="6991492" cy="365125"/>
          </a:xfrm>
        </p:spPr>
        <p:txBody>
          <a:bodyPr/>
          <a:lstStyle/>
          <a:p>
            <a:endParaRPr lang="es-AR"/>
          </a:p>
        </p:txBody>
      </p:sp>
      <p:sp>
        <p:nvSpPr>
          <p:cNvPr id="6" name="Slide Number Placeholder 5"/>
          <p:cNvSpPr>
            <a:spLocks noGrp="1"/>
          </p:cNvSpPr>
          <p:nvPr>
            <p:ph type="sldNum" sz="quarter" idx="12"/>
          </p:nvPr>
        </p:nvSpPr>
        <p:spPr>
          <a:xfrm>
            <a:off x="10862452" y="381000"/>
            <a:ext cx="643748" cy="365125"/>
          </a:xfrm>
        </p:spPr>
        <p:txBody>
          <a:bodyPr/>
          <a:lstStyle/>
          <a:p>
            <a:fld id="{30F9E8F4-67FC-4E08-AE05-B1E7B43AFD72}" type="slidenum">
              <a:rPr lang="es-AR" smtClean="0"/>
              <a:t>‹Nº›</a:t>
            </a:fld>
            <a:endParaRPr lang="es-AR"/>
          </a:p>
        </p:txBody>
      </p:sp>
    </p:spTree>
    <p:extLst>
      <p:ext uri="{BB962C8B-B14F-4D97-AF65-F5344CB8AC3E}">
        <p14:creationId xmlns:p14="http://schemas.microsoft.com/office/powerpoint/2010/main" val="571667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52F226-87EC-40BD-80D4-5AEEA589C3B8}" type="datetimeFigureOut">
              <a:rPr lang="es-AR" smtClean="0"/>
              <a:t>24/11/2024</a:t>
            </a:fld>
            <a:endParaRPr lang="es-AR"/>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0F9E8F4-67FC-4E08-AE05-B1E7B43AFD72}" type="slidenum">
              <a:rPr lang="es-AR" smtClean="0"/>
              <a:t>‹Nº›</a:t>
            </a:fld>
            <a:endParaRPr lang="es-AR"/>
          </a:p>
        </p:txBody>
      </p:sp>
    </p:spTree>
    <p:extLst>
      <p:ext uri="{BB962C8B-B14F-4D97-AF65-F5344CB8AC3E}">
        <p14:creationId xmlns:p14="http://schemas.microsoft.com/office/powerpoint/2010/main" val="413738884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501CED-925F-0611-5B83-93B89E835AED}"/>
              </a:ext>
            </a:extLst>
          </p:cNvPr>
          <p:cNvSpPr>
            <a:spLocks noGrp="1"/>
          </p:cNvSpPr>
          <p:nvPr>
            <p:ph type="ctrTitle"/>
          </p:nvPr>
        </p:nvSpPr>
        <p:spPr>
          <a:xfrm>
            <a:off x="929147" y="1224116"/>
            <a:ext cx="10087897" cy="3465871"/>
          </a:xfrm>
        </p:spPr>
        <p:txBody>
          <a:bodyPr>
            <a:normAutofit/>
          </a:bodyPr>
          <a:lstStyle/>
          <a:p>
            <a:pPr algn="ctr"/>
            <a:r>
              <a:rPr lang="es-AR" sz="3200" kern="100" dirty="0">
                <a:effectLst/>
                <a:latin typeface="Times New Roman" panose="02020603050405020304" pitchFamily="18" charset="0"/>
                <a:ea typeface="Calibri" panose="020F0502020204030204" pitchFamily="34" charset="0"/>
                <a:cs typeface="Times New Roman" panose="02020603050405020304" pitchFamily="18" charset="0"/>
              </a:rPr>
              <a:t>Mejora del Servicio de Transporte Público a través de un Sistema de Gestión y Monitoreo</a:t>
            </a:r>
            <a:br>
              <a:rPr lang="es-AR"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s-AR" dirty="0"/>
          </a:p>
        </p:txBody>
      </p:sp>
    </p:spTree>
    <p:extLst>
      <p:ext uri="{BB962C8B-B14F-4D97-AF65-F5344CB8AC3E}">
        <p14:creationId xmlns:p14="http://schemas.microsoft.com/office/powerpoint/2010/main" val="272660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F2C2A9-0A05-EFF4-18EE-60320564A810}"/>
              </a:ext>
            </a:extLst>
          </p:cNvPr>
          <p:cNvSpPr>
            <a:spLocks noGrp="1"/>
          </p:cNvSpPr>
          <p:nvPr>
            <p:ph type="title"/>
          </p:nvPr>
        </p:nvSpPr>
        <p:spPr>
          <a:xfrm>
            <a:off x="1790700" y="639315"/>
            <a:ext cx="8610600" cy="1293028"/>
          </a:xfrm>
        </p:spPr>
        <p:txBody>
          <a:bodyPr>
            <a:normAutofit/>
          </a:bodyPr>
          <a:lstStyle/>
          <a:p>
            <a:pPr algn="ctr"/>
            <a:r>
              <a:rPr lang="es-AR" b="1" kern="100" dirty="0">
                <a:effectLst/>
                <a:latin typeface="Times New Roman" panose="02020603050405020304" pitchFamily="18" charset="0"/>
                <a:ea typeface="Calibri" panose="020F0502020204030204" pitchFamily="34" charset="0"/>
                <a:cs typeface="Times New Roman" panose="02020603050405020304" pitchFamily="18" charset="0"/>
              </a:rPr>
              <a:t>Introducción</a:t>
            </a:r>
            <a:br>
              <a:rPr lang="es-AR"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s-AR" dirty="0">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A337B219-E4E7-05D2-348B-9072ECE19C88}"/>
              </a:ext>
            </a:extLst>
          </p:cNvPr>
          <p:cNvSpPr>
            <a:spLocks noGrp="1"/>
          </p:cNvSpPr>
          <p:nvPr>
            <p:ph idx="1"/>
          </p:nvPr>
        </p:nvSpPr>
        <p:spPr/>
        <p:txBody>
          <a:bodyPr>
            <a:normAutofit fontScale="92500"/>
          </a:bodyPr>
          <a:lstStyle/>
          <a:p>
            <a:pPr marL="0" indent="0">
              <a:buNone/>
            </a:pPr>
            <a:endParaRPr lang="es-AR" dirty="0"/>
          </a:p>
          <a:p>
            <a:pPr marL="0" indent="0" algn="just">
              <a:buNone/>
            </a:pPr>
            <a:r>
              <a:rPr lang="es-AR" sz="2800" dirty="0">
                <a:latin typeface="Times New Roman" panose="02020603050405020304" pitchFamily="18" charset="0"/>
                <a:cs typeface="Times New Roman" panose="02020603050405020304" pitchFamily="18" charset="0"/>
              </a:rPr>
              <a:t>El transporte público, especialmente los colectivos, tiene problemas que afectan a los usuarios, como la falta de puntualidad, organización en las paradas y poca información sobre rutas y horarios. Esto genera frustración en los pasajeros.  </a:t>
            </a:r>
          </a:p>
          <a:p>
            <a:pPr marL="0" indent="0" algn="just">
              <a:buNone/>
            </a:pPr>
            <a:endParaRPr lang="es-AR" sz="2800" dirty="0">
              <a:latin typeface="Times New Roman" panose="02020603050405020304" pitchFamily="18" charset="0"/>
              <a:cs typeface="Times New Roman" panose="02020603050405020304" pitchFamily="18" charset="0"/>
            </a:endParaRPr>
          </a:p>
          <a:p>
            <a:pPr marL="0" indent="0" algn="just">
              <a:buNone/>
            </a:pPr>
            <a:r>
              <a:rPr lang="es-AR" sz="2800" dirty="0">
                <a:latin typeface="Times New Roman" panose="02020603050405020304" pitchFamily="18" charset="0"/>
                <a:cs typeface="Times New Roman" panose="02020603050405020304" pitchFamily="18" charset="0"/>
              </a:rPr>
              <a:t>Tras investigar, se identificó que la falta de inversión en tecnología y planificación es uno de los mayores desafíos. Por eso, se propone crear un sistema digital para gestionar y monitorear el servicio, ofreciendo información en tiempo real y mejorando la comodidad y eficiencia para los usuarios.</a:t>
            </a:r>
          </a:p>
        </p:txBody>
      </p:sp>
    </p:spTree>
    <p:extLst>
      <p:ext uri="{BB962C8B-B14F-4D97-AF65-F5344CB8AC3E}">
        <p14:creationId xmlns:p14="http://schemas.microsoft.com/office/powerpoint/2010/main" val="2967963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547C58-B886-5B7D-CCE1-27FE308212C1}"/>
              </a:ext>
            </a:extLst>
          </p:cNvPr>
          <p:cNvSpPr>
            <a:spLocks noGrp="1"/>
          </p:cNvSpPr>
          <p:nvPr>
            <p:ph type="title"/>
          </p:nvPr>
        </p:nvSpPr>
        <p:spPr/>
        <p:txBody>
          <a:bodyPr/>
          <a:lstStyle/>
          <a:p>
            <a:pPr algn="ctr"/>
            <a:r>
              <a:rPr lang="es-AR" dirty="0">
                <a:latin typeface="Times New Roman" panose="02020603050405020304" pitchFamily="18" charset="0"/>
                <a:cs typeface="Times New Roman" panose="02020603050405020304" pitchFamily="18" charset="0"/>
              </a:rPr>
              <a:t>Objetivo del Proyecto</a:t>
            </a:r>
          </a:p>
        </p:txBody>
      </p:sp>
      <p:sp>
        <p:nvSpPr>
          <p:cNvPr id="3" name="Marcador de contenido 2">
            <a:extLst>
              <a:ext uri="{FF2B5EF4-FFF2-40B4-BE49-F238E27FC236}">
                <a16:creationId xmlns:a16="http://schemas.microsoft.com/office/drawing/2014/main" id="{794AC72A-CC39-53BF-D050-B1515B121C96}"/>
              </a:ext>
            </a:extLst>
          </p:cNvPr>
          <p:cNvSpPr>
            <a:spLocks noGrp="1"/>
          </p:cNvSpPr>
          <p:nvPr>
            <p:ph sz="half" idx="1"/>
          </p:nvPr>
        </p:nvSpPr>
        <p:spPr>
          <a:xfrm>
            <a:off x="685800" y="2194559"/>
            <a:ext cx="7027606" cy="3968231"/>
          </a:xfrm>
        </p:spPr>
        <p:txBody>
          <a:bodyPr/>
          <a:lstStyle/>
          <a:p>
            <a:pPr marL="0" indent="0">
              <a:buNone/>
            </a:pPr>
            <a:r>
              <a:rPr lang="es-AR" sz="2800" kern="100" dirty="0">
                <a:effectLst/>
                <a:latin typeface="Times New Roman" panose="02020603050405020304" pitchFamily="18" charset="0"/>
                <a:ea typeface="Calibri" panose="020F0502020204030204" pitchFamily="34" charset="0"/>
                <a:cs typeface="Times New Roman" panose="02020603050405020304" pitchFamily="18" charset="0"/>
              </a:rPr>
              <a:t>El objetivo es diseñar e implementar un sistema digital que permita mejorar la experiencia del usuario en el transporte público, abordando las deficiencias actuales mediante una solución integral que optimice la gestión de horarios, paradas, comunicación y pagos.</a:t>
            </a:r>
            <a:endParaRPr lang="es-AR"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AR" dirty="0">
              <a:latin typeface="Times New Roman" panose="02020603050405020304" pitchFamily="18" charset="0"/>
              <a:cs typeface="Times New Roman" panose="02020603050405020304" pitchFamily="18" charset="0"/>
            </a:endParaRPr>
          </a:p>
        </p:txBody>
      </p:sp>
      <p:pic>
        <p:nvPicPr>
          <p:cNvPr id="6" name="Marcador de contenido 5">
            <a:extLst>
              <a:ext uri="{FF2B5EF4-FFF2-40B4-BE49-F238E27FC236}">
                <a16:creationId xmlns:a16="http://schemas.microsoft.com/office/drawing/2014/main" id="{E164A29F-90DA-2693-4EE0-3EA615924AAE}"/>
              </a:ext>
            </a:extLst>
          </p:cNvPr>
          <p:cNvPicPr>
            <a:picLocks noGrp="1" noChangeAspect="1"/>
          </p:cNvPicPr>
          <p:nvPr>
            <p:ph sz="half" idx="2"/>
          </p:nvPr>
        </p:nvPicPr>
        <p:blipFill>
          <a:blip r:embed="rId2"/>
          <a:srcRect l="33171" r="33187"/>
          <a:stretch/>
        </p:blipFill>
        <p:spPr>
          <a:xfrm>
            <a:off x="8288594" y="2060195"/>
            <a:ext cx="2374489" cy="3968231"/>
          </a:xfrm>
        </p:spPr>
      </p:pic>
    </p:spTree>
    <p:extLst>
      <p:ext uri="{BB962C8B-B14F-4D97-AF65-F5344CB8AC3E}">
        <p14:creationId xmlns:p14="http://schemas.microsoft.com/office/powerpoint/2010/main" val="951841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9EF90-ABFE-B03C-73E0-E71D1FEBFA85}"/>
              </a:ext>
            </a:extLst>
          </p:cNvPr>
          <p:cNvSpPr>
            <a:spLocks noGrp="1"/>
          </p:cNvSpPr>
          <p:nvPr>
            <p:ph type="title"/>
          </p:nvPr>
        </p:nvSpPr>
        <p:spPr/>
        <p:txBody>
          <a:bodyPr>
            <a:normAutofit/>
          </a:bodyPr>
          <a:lstStyle/>
          <a:p>
            <a:pPr algn="ctr"/>
            <a:r>
              <a:rPr lang="es-AR" sz="4000" dirty="0">
                <a:latin typeface="Times New Roman" panose="02020603050405020304" pitchFamily="18" charset="0"/>
                <a:cs typeface="Times New Roman" panose="02020603050405020304" pitchFamily="18" charset="0"/>
              </a:rPr>
              <a:t>Criterios de Selección de Funcionalidades</a:t>
            </a:r>
          </a:p>
        </p:txBody>
      </p:sp>
      <p:sp>
        <p:nvSpPr>
          <p:cNvPr id="4" name="Marcador de texto 3">
            <a:extLst>
              <a:ext uri="{FF2B5EF4-FFF2-40B4-BE49-F238E27FC236}">
                <a16:creationId xmlns:a16="http://schemas.microsoft.com/office/drawing/2014/main" id="{114A09A0-6619-3504-7712-7F8EE6168EBD}"/>
              </a:ext>
            </a:extLst>
          </p:cNvPr>
          <p:cNvSpPr>
            <a:spLocks noGrp="1"/>
          </p:cNvSpPr>
          <p:nvPr>
            <p:ph type="body" sz="half" idx="2"/>
          </p:nvPr>
        </p:nvSpPr>
        <p:spPr/>
        <p:txBody>
          <a:bodyPr>
            <a:normAutofit/>
          </a:bodyPr>
          <a:lstStyle/>
          <a:p>
            <a:r>
              <a:rPr lang="es-AR" sz="2400" dirty="0">
                <a:latin typeface="Times New Roman" panose="02020603050405020304" pitchFamily="18" charset="0"/>
                <a:cs typeface="Times New Roman" panose="02020603050405020304" pitchFamily="18" charset="0"/>
              </a:rPr>
              <a:t>Las funcionalidades han sido seleccionadas en función de las necesidades detectadas en los usuarios y en las encuestas realizadas a los trabajadores. Las herramientas de geolocalización, billetera virtual y notificaciones en tiempo real fueron priorizadas debido a su potencial para mejorar significativamente la experiencia del pasajero y reducir las deficiencias actuales.</a:t>
            </a:r>
          </a:p>
        </p:txBody>
      </p:sp>
      <p:pic>
        <p:nvPicPr>
          <p:cNvPr id="6" name="Imagen 5">
            <a:extLst>
              <a:ext uri="{FF2B5EF4-FFF2-40B4-BE49-F238E27FC236}">
                <a16:creationId xmlns:a16="http://schemas.microsoft.com/office/drawing/2014/main" id="{EE23B007-30FF-534B-C0B2-F9E6F29C61D0}"/>
              </a:ext>
            </a:extLst>
          </p:cNvPr>
          <p:cNvPicPr>
            <a:picLocks noChangeAspect="1"/>
          </p:cNvPicPr>
          <p:nvPr/>
        </p:nvPicPr>
        <p:blipFill>
          <a:blip r:embed="rId2"/>
          <a:srcRect l="36190" r="35521" b="3258"/>
          <a:stretch/>
        </p:blipFill>
        <p:spPr>
          <a:xfrm>
            <a:off x="8221589" y="673655"/>
            <a:ext cx="2924260" cy="5622613"/>
          </a:xfrm>
          <a:prstGeom prst="rect">
            <a:avLst/>
          </a:prstGeom>
        </p:spPr>
      </p:pic>
    </p:spTree>
    <p:extLst>
      <p:ext uri="{BB962C8B-B14F-4D97-AF65-F5344CB8AC3E}">
        <p14:creationId xmlns:p14="http://schemas.microsoft.com/office/powerpoint/2010/main" val="461828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360C31-9CD1-6A24-A033-6081B6D55BB8}"/>
              </a:ext>
            </a:extLst>
          </p:cNvPr>
          <p:cNvSpPr>
            <a:spLocks noGrp="1"/>
          </p:cNvSpPr>
          <p:nvPr>
            <p:ph type="title"/>
          </p:nvPr>
        </p:nvSpPr>
        <p:spPr>
          <a:xfrm>
            <a:off x="685799" y="172961"/>
            <a:ext cx="10820400" cy="2802467"/>
          </a:xfrm>
        </p:spPr>
        <p:txBody>
          <a:bodyPr>
            <a:normAutofit/>
          </a:bodyPr>
          <a:lstStyle/>
          <a:p>
            <a:pPr algn="ctr"/>
            <a:r>
              <a:rPr lang="es-AR" sz="7200" dirty="0">
                <a:latin typeface="Times New Roman" panose="02020603050405020304" pitchFamily="18" charset="0"/>
                <a:cs typeface="Times New Roman" panose="02020603050405020304" pitchFamily="18" charset="0"/>
              </a:rPr>
              <a:t>Conclusión</a:t>
            </a:r>
          </a:p>
        </p:txBody>
      </p:sp>
      <p:sp>
        <p:nvSpPr>
          <p:cNvPr id="3" name="Marcador de texto 2">
            <a:extLst>
              <a:ext uri="{FF2B5EF4-FFF2-40B4-BE49-F238E27FC236}">
                <a16:creationId xmlns:a16="http://schemas.microsoft.com/office/drawing/2014/main" id="{606659AB-82D6-58AB-8A6C-B11A8D5F3D30}"/>
              </a:ext>
            </a:extLst>
          </p:cNvPr>
          <p:cNvSpPr>
            <a:spLocks noGrp="1"/>
          </p:cNvSpPr>
          <p:nvPr>
            <p:ph type="body" sz="half" idx="2"/>
          </p:nvPr>
        </p:nvSpPr>
        <p:spPr>
          <a:xfrm>
            <a:off x="1037885" y="2824842"/>
            <a:ext cx="10116229" cy="1462314"/>
          </a:xfrm>
        </p:spPr>
        <p:txBody>
          <a:bodyPr>
            <a:normAutofit lnSpcReduction="10000"/>
          </a:bodyPr>
          <a:lstStyle/>
          <a:p>
            <a:r>
              <a:rPr lang="es-AR" sz="2000" dirty="0">
                <a:latin typeface="Times New Roman" panose="02020603050405020304" pitchFamily="18" charset="0"/>
                <a:cs typeface="Times New Roman" panose="02020603050405020304" pitchFamily="18" charset="0"/>
              </a:rPr>
              <a:t>Este proyecto tiene el potencial de mejorar considerablemente el servicio de transporte público, facilitando el acceso a la información y optimizando el tiempo de los pasajeros. La implementación de este sistema digital permitirá a la cooperativa adaptarse a las demandas actuales de los usuarios, al tiempo que promueve un uso más eficiente y confiable del servicio de colectivos.</a:t>
            </a:r>
          </a:p>
        </p:txBody>
      </p:sp>
    </p:spTree>
    <p:extLst>
      <p:ext uri="{BB962C8B-B14F-4D97-AF65-F5344CB8AC3E}">
        <p14:creationId xmlns:p14="http://schemas.microsoft.com/office/powerpoint/2010/main" val="2821911085"/>
      </p:ext>
    </p:extLst>
  </p:cSld>
  <p:clrMapOvr>
    <a:masterClrMapping/>
  </p:clrMapOvr>
</p:sld>
</file>

<file path=ppt/theme/theme1.xml><?xml version="1.0" encoding="utf-8"?>
<a:theme xmlns:a="http://schemas.openxmlformats.org/drawingml/2006/main" name="Estela de condensación">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Estela de condensación">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tela de condensación">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docProps/app.xml><?xml version="1.0" encoding="utf-8"?>
<Properties xmlns="http://schemas.openxmlformats.org/officeDocument/2006/extended-properties" xmlns:vt="http://schemas.openxmlformats.org/officeDocument/2006/docPropsVTypes">
  <Template>Estela de condensación</Template>
  <TotalTime>146</TotalTime>
  <Words>278</Words>
  <Application>Microsoft Office PowerPoint</Application>
  <PresentationFormat>Panorámica</PresentationFormat>
  <Paragraphs>12</Paragraphs>
  <Slides>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vt:i4>
      </vt:variant>
    </vt:vector>
  </HeadingPairs>
  <TitlesOfParts>
    <vt:vector size="10" baseType="lpstr">
      <vt:lpstr>Arial</vt:lpstr>
      <vt:lpstr>Calibri</vt:lpstr>
      <vt:lpstr>Century Gothic</vt:lpstr>
      <vt:lpstr>Times New Roman</vt:lpstr>
      <vt:lpstr>Estela de condensación</vt:lpstr>
      <vt:lpstr>Mejora del Servicio de Transporte Público a través de un Sistema de Gestión y Monitoreo </vt:lpstr>
      <vt:lpstr>Introducción </vt:lpstr>
      <vt:lpstr>Objetivo del Proyecto</vt:lpstr>
      <vt:lpstr>Criterios de Selección de Funcionalidades</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Estudiante</dc:creator>
  <cp:lastModifiedBy>Estudiante</cp:lastModifiedBy>
  <cp:revision>2</cp:revision>
  <dcterms:created xsi:type="dcterms:W3CDTF">2024-11-24T23:20:19Z</dcterms:created>
  <dcterms:modified xsi:type="dcterms:W3CDTF">2024-11-25T01:46:47Z</dcterms:modified>
</cp:coreProperties>
</file>